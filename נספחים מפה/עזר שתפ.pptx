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3"/>
  </p:notesMasterIdLst>
  <p:sldIdLst>
    <p:sldId id="267" r:id="rId2"/>
  </p:sldIdLst>
  <p:sldSz cx="9144000" cy="6858000" type="screen4x3"/>
  <p:notesSz cx="6858000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סגנון ביניים 1 - הדגשה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סגנון ביניים 3 - הדגשה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8297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2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953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953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D640ABA-0290-427B-82C7-ECF709FC8B48}" type="datetimeFigureOut">
              <a:rPr lang="he-IL" smtClean="0"/>
              <a:t>כ"ט/טבת/תשפ"ו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208088" y="1233488"/>
            <a:ext cx="444182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751388"/>
            <a:ext cx="5486400" cy="3887787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9377363"/>
            <a:ext cx="2971800" cy="4953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9377363"/>
            <a:ext cx="2971800" cy="4953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82D3838-677E-42BA-8A70-2CE661A39AE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15356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CF4BC-EE98-44A2-B8F1-99B775A74FEE}" type="datetimeFigureOut">
              <a:rPr lang="he-IL" smtClean="0"/>
              <a:t>כ"ט/טבת/תשפ"ו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90C1-F957-448E-9ACC-AF0343B482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16397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CF4BC-EE98-44A2-B8F1-99B775A74FEE}" type="datetimeFigureOut">
              <a:rPr lang="he-IL" smtClean="0"/>
              <a:t>כ"ט/טבת/תשפ"ו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90C1-F957-448E-9ACC-AF0343B482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442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CF4BC-EE98-44A2-B8F1-99B775A74FEE}" type="datetimeFigureOut">
              <a:rPr lang="he-IL" smtClean="0"/>
              <a:t>כ"ט/טבת/תשפ"ו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90C1-F957-448E-9ACC-AF0343B482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46576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CF4BC-EE98-44A2-B8F1-99B775A74FEE}" type="datetimeFigureOut">
              <a:rPr lang="he-IL" smtClean="0"/>
              <a:t>כ"ט/טבת/תשפ"ו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90C1-F957-448E-9ACC-AF0343B482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259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CF4BC-EE98-44A2-B8F1-99B775A74FEE}" type="datetimeFigureOut">
              <a:rPr lang="he-IL" smtClean="0"/>
              <a:t>כ"ט/טבת/תשפ"ו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90C1-F957-448E-9ACC-AF0343B482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468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CF4BC-EE98-44A2-B8F1-99B775A74FEE}" type="datetimeFigureOut">
              <a:rPr lang="he-IL" smtClean="0"/>
              <a:t>כ"ט/טבת/תשפ"ו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90C1-F957-448E-9ACC-AF0343B482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87437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CF4BC-EE98-44A2-B8F1-99B775A74FEE}" type="datetimeFigureOut">
              <a:rPr lang="he-IL" smtClean="0"/>
              <a:t>כ"ט/טבת/תשפ"ו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90C1-F957-448E-9ACC-AF0343B482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06368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CF4BC-EE98-44A2-B8F1-99B775A74FEE}" type="datetimeFigureOut">
              <a:rPr lang="he-IL" smtClean="0"/>
              <a:t>כ"ט/טבת/תשפ"ו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90C1-F957-448E-9ACC-AF0343B482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92278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CF4BC-EE98-44A2-B8F1-99B775A74FEE}" type="datetimeFigureOut">
              <a:rPr lang="he-IL" smtClean="0"/>
              <a:t>כ"ט/טבת/תשפ"ו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90C1-F957-448E-9ACC-AF0343B482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26005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CF4BC-EE98-44A2-B8F1-99B775A74FEE}" type="datetimeFigureOut">
              <a:rPr lang="he-IL" smtClean="0"/>
              <a:t>כ"ט/טבת/תשפ"ו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90C1-F957-448E-9ACC-AF0343B482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46357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CF4BC-EE98-44A2-B8F1-99B775A74FEE}" type="datetimeFigureOut">
              <a:rPr lang="he-IL" smtClean="0"/>
              <a:t>כ"ט/טבת/תשפ"ו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90C1-F957-448E-9ACC-AF0343B482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4965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CF4BC-EE98-44A2-B8F1-99B775A74FEE}" type="datetimeFigureOut">
              <a:rPr lang="he-IL" smtClean="0"/>
              <a:t>כ"ט/טבת/תשפ"ו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D90C1-F957-448E-9ACC-AF0343B482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69919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תמונה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" y="1076329"/>
            <a:ext cx="7206506" cy="4977119"/>
          </a:xfrm>
          <a:prstGeom prst="rect">
            <a:avLst/>
          </a:prstGeom>
        </p:spPr>
      </p:pic>
      <p:graphicFrame>
        <p:nvGraphicFramePr>
          <p:cNvPr id="4" name="טבלה 3"/>
          <p:cNvGraphicFramePr>
            <a:graphicFrameLocks noGrp="1"/>
          </p:cNvGraphicFramePr>
          <p:nvPr>
            <p:extLst/>
          </p:nvPr>
        </p:nvGraphicFramePr>
        <p:xfrm>
          <a:off x="7268616" y="487392"/>
          <a:ext cx="1810871" cy="621792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1161319">
                  <a:extLst>
                    <a:ext uri="{9D8B030D-6E8A-4147-A177-3AD203B41FA5}">
                      <a16:colId xmlns:a16="http://schemas.microsoft.com/office/drawing/2014/main" val="240162529"/>
                    </a:ext>
                  </a:extLst>
                </a:gridCol>
                <a:gridCol w="649552">
                  <a:extLst>
                    <a:ext uri="{9D8B030D-6E8A-4147-A177-3AD203B41FA5}">
                      <a16:colId xmlns:a16="http://schemas.microsoft.com/office/drawing/2014/main" val="2498551934"/>
                    </a:ext>
                  </a:extLst>
                </a:gridCol>
              </a:tblGrid>
              <a:tr h="19537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/>
                        <a:t>שם</a:t>
                      </a:r>
                      <a:r>
                        <a:rPr lang="he-IL" sz="900" baseline="0" dirty="0" smtClean="0"/>
                        <a:t> אורגני- מבנים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/>
                        <a:t>שם שת"פ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388613"/>
                  </a:ext>
                </a:extLst>
              </a:tr>
              <a:tr h="170608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מודיעין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1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249707"/>
                  </a:ext>
                </a:extLst>
              </a:tr>
              <a:tr h="19537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הנהלה</a:t>
                      </a:r>
                      <a:r>
                        <a:rPr lang="he-IL" sz="900" baseline="0" dirty="0" smtClean="0">
                          <a:cs typeface="+mn-cs"/>
                        </a:rPr>
                        <a:t> ומרפאות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2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298327"/>
                  </a:ext>
                </a:extLst>
              </a:tr>
              <a:tr h="19537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מיון</a:t>
                      </a:r>
                      <a:r>
                        <a:rPr lang="he-IL" sz="900" baseline="0" dirty="0" smtClean="0">
                          <a:cs typeface="+mn-cs"/>
                        </a:rPr>
                        <a:t> ומחלקת דובדבן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3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70756"/>
                  </a:ext>
                </a:extLst>
              </a:tr>
              <a:tr h="19537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מגורי סגל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4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430469"/>
                  </a:ext>
                </a:extLst>
              </a:tr>
              <a:tr h="19537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אולם כנרת וירדן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5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369675"/>
                  </a:ext>
                </a:extLst>
              </a:tr>
              <a:tr h="19537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ריפוי בעיסוק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6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040892"/>
                  </a:ext>
                </a:extLst>
              </a:tr>
              <a:tr h="19537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רימון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7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396136"/>
                  </a:ext>
                </a:extLst>
              </a:tr>
              <a:tr h="19537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בית כנסת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8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635730"/>
                  </a:ext>
                </a:extLst>
              </a:tr>
              <a:tr h="19537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קפיטריה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9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498475"/>
                  </a:ext>
                </a:extLst>
              </a:tr>
              <a:tr h="228027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משק וחדר אוכל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10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410236"/>
                  </a:ext>
                </a:extLst>
              </a:tr>
              <a:tr h="19537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מנהל הסיעוד, ע"ס</a:t>
                      </a:r>
                      <a:r>
                        <a:rPr lang="he-IL" sz="900" baseline="0" dirty="0" smtClean="0">
                          <a:cs typeface="+mn-cs"/>
                        </a:rPr>
                        <a:t> ופסיכולוגיה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10 א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919564"/>
                  </a:ext>
                </a:extLst>
              </a:tr>
              <a:tr h="19537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לוגיסטיקה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11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537410"/>
                  </a:ext>
                </a:extLst>
              </a:tr>
              <a:tr h="19537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מחלקת דולב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12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758920"/>
                  </a:ext>
                </a:extLst>
              </a:tr>
              <a:tr h="19537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מחלקות תמר ודקל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13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4768809"/>
                  </a:ext>
                </a:extLst>
              </a:tr>
              <a:tr h="19537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יחידות</a:t>
                      </a:r>
                      <a:r>
                        <a:rPr lang="he-IL" sz="900" baseline="0" dirty="0" smtClean="0">
                          <a:cs typeface="+mn-cs"/>
                        </a:rPr>
                        <a:t> גבים ושקמה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14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542251"/>
                  </a:ext>
                </a:extLst>
              </a:tr>
              <a:tr h="19537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מחלקות ארז וברוש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15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88610"/>
                  </a:ext>
                </a:extLst>
              </a:tr>
              <a:tr h="195373">
                <a:tc>
                  <a:txBody>
                    <a:bodyPr/>
                    <a:lstStyle/>
                    <a:p>
                      <a:pPr rtl="1"/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16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794491"/>
                  </a:ext>
                </a:extLst>
              </a:tr>
              <a:tr h="19537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מחלקות אגוז</a:t>
                      </a:r>
                      <a:r>
                        <a:rPr lang="he-IL" sz="900" baseline="0" dirty="0" smtClean="0">
                          <a:cs typeface="+mn-cs"/>
                        </a:rPr>
                        <a:t> ושיטה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17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972541"/>
                  </a:ext>
                </a:extLst>
              </a:tr>
              <a:tr h="19537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מחלקות</a:t>
                      </a:r>
                      <a:r>
                        <a:rPr lang="he-IL" sz="900" baseline="0" dirty="0" smtClean="0">
                          <a:cs typeface="+mn-cs"/>
                        </a:rPr>
                        <a:t> גפן ותאנה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18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493000"/>
                  </a:ext>
                </a:extLst>
              </a:tr>
              <a:tr h="199502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מרכז</a:t>
                      </a:r>
                      <a:r>
                        <a:rPr lang="he-IL" sz="900" baseline="0" dirty="0" smtClean="0">
                          <a:cs typeface="+mn-cs"/>
                        </a:rPr>
                        <a:t> חדשנות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19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483660"/>
                  </a:ext>
                </a:extLst>
              </a:tr>
              <a:tr h="184882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מחלקות הדס,</a:t>
                      </a:r>
                      <a:r>
                        <a:rPr lang="he-IL" sz="900" baseline="0" dirty="0" smtClean="0">
                          <a:cs typeface="+mn-cs"/>
                        </a:rPr>
                        <a:t> </a:t>
                      </a:r>
                      <a:r>
                        <a:rPr lang="he-IL" sz="900" dirty="0" smtClean="0">
                          <a:cs typeface="+mn-cs"/>
                        </a:rPr>
                        <a:t>שקד והבית הבטוח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20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713161"/>
                  </a:ext>
                </a:extLst>
              </a:tr>
              <a:tr h="208255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בית</a:t>
                      </a:r>
                      <a:r>
                        <a:rPr lang="he-IL" sz="900" baseline="0" dirty="0" smtClean="0">
                          <a:cs typeface="+mn-cs"/>
                        </a:rPr>
                        <a:t> רותם </a:t>
                      </a:r>
                      <a:r>
                        <a:rPr lang="he-IL" sz="900" baseline="0" dirty="0" err="1" smtClean="0">
                          <a:cs typeface="+mn-cs"/>
                        </a:rPr>
                        <a:t>ואיבחון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21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389091"/>
                  </a:ext>
                </a:extLst>
              </a:tr>
              <a:tr h="19537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בי"ס גשר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>
                          <a:cs typeface="+mn-cs"/>
                        </a:rPr>
                        <a:t>22</a:t>
                      </a:r>
                      <a:endParaRPr lang="he-IL" sz="900" b="1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642538"/>
                  </a:ext>
                </a:extLst>
              </a:tr>
              <a:tr h="19537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מחלקת אלון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he-IL" sz="9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154</a:t>
                      </a:r>
                      <a:endParaRPr lang="he-IL" sz="9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524438"/>
                  </a:ext>
                </a:extLst>
              </a:tr>
              <a:tr h="19537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>
                          <a:cs typeface="+mn-cs"/>
                        </a:rPr>
                        <a:t>מחלקת אדר</a:t>
                      </a:r>
                      <a:endParaRPr lang="he-IL" sz="900" dirty="0"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9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173</a:t>
                      </a:r>
                      <a:endParaRPr lang="he-IL" sz="9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53831"/>
                  </a:ext>
                </a:extLst>
              </a:tr>
            </a:tbl>
          </a:graphicData>
        </a:graphic>
      </p:graphicFrame>
      <p:sp>
        <p:nvSpPr>
          <p:cNvPr id="6" name="כותרת 1"/>
          <p:cNvSpPr txBox="1">
            <a:spLocks/>
          </p:cNvSpPr>
          <p:nvPr/>
        </p:nvSpPr>
        <p:spPr>
          <a:xfrm>
            <a:off x="197950" y="148143"/>
            <a:ext cx="8765043" cy="42079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e-IL" sz="2800" b="1" u="sng" dirty="0" smtClean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עזר שת"פ לכוחות חבירים</a:t>
            </a:r>
            <a:endParaRPr lang="he-IL" sz="2800" b="1" u="sng" dirty="0">
              <a:solidFill>
                <a:srgbClr val="C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graphicFrame>
        <p:nvGraphicFramePr>
          <p:cNvPr id="7" name="טבלה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374900"/>
              </p:ext>
            </p:extLst>
          </p:nvPr>
        </p:nvGraphicFramePr>
        <p:xfrm>
          <a:off x="116160" y="5911671"/>
          <a:ext cx="4696945" cy="8229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01932">
                  <a:extLst>
                    <a:ext uri="{9D8B030D-6E8A-4147-A177-3AD203B41FA5}">
                      <a16:colId xmlns:a16="http://schemas.microsoft.com/office/drawing/2014/main" val="3720985029"/>
                    </a:ext>
                  </a:extLst>
                </a:gridCol>
                <a:gridCol w="696956">
                  <a:extLst>
                    <a:ext uri="{9D8B030D-6E8A-4147-A177-3AD203B41FA5}">
                      <a16:colId xmlns:a16="http://schemas.microsoft.com/office/drawing/2014/main" val="4012185621"/>
                    </a:ext>
                  </a:extLst>
                </a:gridCol>
                <a:gridCol w="696956">
                  <a:extLst>
                    <a:ext uri="{9D8B030D-6E8A-4147-A177-3AD203B41FA5}">
                      <a16:colId xmlns:a16="http://schemas.microsoft.com/office/drawing/2014/main" val="2146301587"/>
                    </a:ext>
                  </a:extLst>
                </a:gridCol>
                <a:gridCol w="528213">
                  <a:extLst>
                    <a:ext uri="{9D8B030D-6E8A-4147-A177-3AD203B41FA5}">
                      <a16:colId xmlns:a16="http://schemas.microsoft.com/office/drawing/2014/main" val="3675415638"/>
                    </a:ext>
                  </a:extLst>
                </a:gridCol>
                <a:gridCol w="782102">
                  <a:extLst>
                    <a:ext uri="{9D8B030D-6E8A-4147-A177-3AD203B41FA5}">
                      <a16:colId xmlns:a16="http://schemas.microsoft.com/office/drawing/2014/main" val="415018744"/>
                    </a:ext>
                  </a:extLst>
                </a:gridCol>
                <a:gridCol w="990786">
                  <a:extLst>
                    <a:ext uri="{9D8B030D-6E8A-4147-A177-3AD203B41FA5}">
                      <a16:colId xmlns:a16="http://schemas.microsoft.com/office/drawing/2014/main" val="3920460391"/>
                    </a:ext>
                  </a:extLst>
                </a:gridCol>
              </a:tblGrid>
              <a:tr h="182933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/>
                        <a:t>שם אורגני</a:t>
                      </a:r>
                      <a:endParaRPr lang="he-IL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dirty="0" smtClean="0"/>
                        <a:t>שער </a:t>
                      </a:r>
                    </a:p>
                    <a:p>
                      <a:pPr algn="ctr" rtl="1"/>
                      <a:r>
                        <a:rPr lang="he-IL" sz="900" dirty="0" smtClean="0"/>
                        <a:t>אחורי</a:t>
                      </a:r>
                      <a:endParaRPr lang="he-IL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dirty="0" smtClean="0"/>
                        <a:t>שער </a:t>
                      </a:r>
                    </a:p>
                    <a:p>
                      <a:pPr algn="ctr" rtl="1"/>
                      <a:r>
                        <a:rPr lang="he-IL" sz="900" dirty="0" smtClean="0"/>
                        <a:t>אבחון</a:t>
                      </a:r>
                      <a:endParaRPr lang="he-IL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dirty="0" smtClean="0"/>
                        <a:t>שער </a:t>
                      </a:r>
                    </a:p>
                    <a:p>
                      <a:pPr algn="ctr" rtl="1"/>
                      <a:r>
                        <a:rPr lang="he-IL" sz="900" dirty="0" smtClean="0"/>
                        <a:t>מודיעין</a:t>
                      </a:r>
                      <a:endParaRPr lang="he-IL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dirty="0" smtClean="0"/>
                        <a:t>שער חירום</a:t>
                      </a:r>
                    </a:p>
                    <a:p>
                      <a:pPr algn="ctr" rtl="1"/>
                      <a:r>
                        <a:rPr lang="he-IL" sz="900" dirty="0" smtClean="0"/>
                        <a:t> ליד תחלואה</a:t>
                      </a:r>
                      <a:endParaRPr lang="he-IL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dirty="0" smtClean="0"/>
                        <a:t>שער חירום</a:t>
                      </a:r>
                    </a:p>
                    <a:p>
                      <a:pPr algn="ctr" rtl="1"/>
                      <a:r>
                        <a:rPr lang="he-IL" sz="900" dirty="0" smtClean="0"/>
                        <a:t> ליד ספרייה</a:t>
                      </a:r>
                      <a:endParaRPr lang="he-IL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354831"/>
                  </a:ext>
                </a:extLst>
              </a:tr>
              <a:tr h="205212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/>
                        <a:t>שם שת"פ</a:t>
                      </a:r>
                      <a:endParaRPr lang="he-IL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/>
                        <a:t>ש. אצטדיון</a:t>
                      </a:r>
                      <a:endParaRPr lang="he-IL" sz="9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/>
                        <a:t>שער א'</a:t>
                      </a:r>
                      <a:endParaRPr lang="he-IL" sz="9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/>
                        <a:t>שער ב'</a:t>
                      </a:r>
                      <a:endParaRPr lang="he-IL" sz="9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/>
                        <a:t>שער ג'</a:t>
                      </a:r>
                      <a:endParaRPr lang="he-IL" sz="9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smtClean="0"/>
                        <a:t>שער ד'</a:t>
                      </a:r>
                      <a:endParaRPr lang="he-IL" sz="9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894556"/>
                  </a:ext>
                </a:extLst>
              </a:tr>
              <a:tr h="205212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/>
                        <a:t>מיגון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b="1" dirty="0" err="1" smtClean="0"/>
                        <a:t>מיגונית</a:t>
                      </a:r>
                      <a:endParaRPr lang="he-IL" sz="9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sz="9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900" dirty="0" smtClean="0"/>
                        <a:t>מקלט</a:t>
                      </a:r>
                      <a:endParaRPr lang="he-IL" sz="900" dirty="0" smtClean="0">
                        <a:solidFill>
                          <a:srgbClr val="FF0000"/>
                        </a:solidFill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sz="9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sz="9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633591"/>
                  </a:ext>
                </a:extLst>
              </a:tr>
            </a:tbl>
          </a:graphicData>
        </a:graphic>
      </p:graphicFrame>
      <p:sp>
        <p:nvSpPr>
          <p:cNvPr id="8" name="אליפסה 7"/>
          <p:cNvSpPr/>
          <p:nvPr/>
        </p:nvSpPr>
        <p:spPr>
          <a:xfrm>
            <a:off x="1311753" y="2088776"/>
            <a:ext cx="304799" cy="25008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 smtClean="0">
                <a:solidFill>
                  <a:schemeClr val="tx1"/>
                </a:solidFill>
              </a:rPr>
              <a:t>154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9" name="אליפסה 8"/>
          <p:cNvSpPr/>
          <p:nvPr/>
        </p:nvSpPr>
        <p:spPr>
          <a:xfrm>
            <a:off x="3283989" y="2088776"/>
            <a:ext cx="268942" cy="25008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 smtClean="0">
                <a:solidFill>
                  <a:schemeClr val="tx1"/>
                </a:solidFill>
              </a:rPr>
              <a:t>16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אליפסה 9"/>
          <p:cNvSpPr/>
          <p:nvPr/>
        </p:nvSpPr>
        <p:spPr>
          <a:xfrm>
            <a:off x="2315800" y="2129115"/>
            <a:ext cx="268941" cy="27342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 smtClean="0">
                <a:solidFill>
                  <a:schemeClr val="tx1"/>
                </a:solidFill>
              </a:rPr>
              <a:t>15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1" name="אליפסה 10"/>
          <p:cNvSpPr/>
          <p:nvPr/>
        </p:nvSpPr>
        <p:spPr>
          <a:xfrm>
            <a:off x="6329887" y="4179840"/>
            <a:ext cx="244147" cy="2307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 smtClean="0">
                <a:solidFill>
                  <a:schemeClr val="tx1"/>
                </a:solidFill>
              </a:rPr>
              <a:t>21</a:t>
            </a:r>
            <a:endParaRPr lang="he-IL" sz="1000" b="1" dirty="0">
              <a:solidFill>
                <a:schemeClr val="tx1"/>
              </a:solidFill>
            </a:endParaRPr>
          </a:p>
        </p:txBody>
      </p:sp>
      <p:sp>
        <p:nvSpPr>
          <p:cNvPr id="12" name="אליפסה 11"/>
          <p:cNvSpPr/>
          <p:nvPr/>
        </p:nvSpPr>
        <p:spPr>
          <a:xfrm>
            <a:off x="2760736" y="4342344"/>
            <a:ext cx="261768" cy="2128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 smtClean="0">
                <a:solidFill>
                  <a:schemeClr val="tx1"/>
                </a:solidFill>
              </a:rPr>
              <a:t>13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3" name="אליפסה 12"/>
          <p:cNvSpPr/>
          <p:nvPr/>
        </p:nvSpPr>
        <p:spPr>
          <a:xfrm>
            <a:off x="1946673" y="4333381"/>
            <a:ext cx="211566" cy="2307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 smtClean="0">
                <a:solidFill>
                  <a:schemeClr val="tx1"/>
                </a:solidFill>
              </a:rPr>
              <a:t>14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4" name="אליפסה 13"/>
          <p:cNvSpPr/>
          <p:nvPr/>
        </p:nvSpPr>
        <p:spPr>
          <a:xfrm>
            <a:off x="5874789" y="2922961"/>
            <a:ext cx="257876" cy="22364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 smtClean="0">
                <a:solidFill>
                  <a:schemeClr val="tx1"/>
                </a:solidFill>
              </a:rPr>
              <a:t>20</a:t>
            </a:r>
            <a:endParaRPr lang="he-IL" sz="1000" b="1" dirty="0">
              <a:solidFill>
                <a:schemeClr val="tx1"/>
              </a:solidFill>
            </a:endParaRPr>
          </a:p>
        </p:txBody>
      </p:sp>
      <p:sp>
        <p:nvSpPr>
          <p:cNvPr id="15" name="אליפסה 14"/>
          <p:cNvSpPr/>
          <p:nvPr/>
        </p:nvSpPr>
        <p:spPr>
          <a:xfrm>
            <a:off x="5847894" y="1716737"/>
            <a:ext cx="284769" cy="25549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 smtClean="0">
                <a:solidFill>
                  <a:schemeClr val="tx1"/>
                </a:solidFill>
              </a:rPr>
              <a:t>19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6" name="אליפסה 15"/>
          <p:cNvSpPr/>
          <p:nvPr/>
        </p:nvSpPr>
        <p:spPr>
          <a:xfrm>
            <a:off x="4081848" y="1452281"/>
            <a:ext cx="340658" cy="26445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900" b="1" dirty="0" smtClean="0">
                <a:solidFill>
                  <a:schemeClr val="tx1"/>
                </a:solidFill>
              </a:rPr>
              <a:t>173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7" name="אליפסה 16"/>
          <p:cNvSpPr/>
          <p:nvPr/>
        </p:nvSpPr>
        <p:spPr>
          <a:xfrm>
            <a:off x="969083" y="4410633"/>
            <a:ext cx="292467" cy="25997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 smtClean="0">
                <a:solidFill>
                  <a:schemeClr val="tx1"/>
                </a:solidFill>
              </a:rPr>
              <a:t>12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8" name="אליפסה 17"/>
          <p:cNvSpPr/>
          <p:nvPr/>
        </p:nvSpPr>
        <p:spPr>
          <a:xfrm>
            <a:off x="3988674" y="4746221"/>
            <a:ext cx="200808" cy="18884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 smtClean="0">
                <a:solidFill>
                  <a:schemeClr val="tx1"/>
                </a:solidFill>
              </a:rPr>
              <a:t>2</a:t>
            </a:r>
            <a:endParaRPr lang="he-IL" sz="1000" b="1" dirty="0">
              <a:solidFill>
                <a:schemeClr val="tx1"/>
              </a:solidFill>
            </a:endParaRPr>
          </a:p>
        </p:txBody>
      </p:sp>
      <p:sp>
        <p:nvSpPr>
          <p:cNvPr id="19" name="אליפסה 18"/>
          <p:cNvSpPr/>
          <p:nvPr/>
        </p:nvSpPr>
        <p:spPr>
          <a:xfrm>
            <a:off x="1865773" y="3281076"/>
            <a:ext cx="252063" cy="23308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 smtClean="0">
                <a:solidFill>
                  <a:schemeClr val="tx1"/>
                </a:solidFill>
              </a:rPr>
              <a:t>11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20" name="אליפסה 19"/>
          <p:cNvSpPr/>
          <p:nvPr/>
        </p:nvSpPr>
        <p:spPr>
          <a:xfrm>
            <a:off x="3611771" y="3281076"/>
            <a:ext cx="219065" cy="2797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 smtClean="0">
                <a:solidFill>
                  <a:schemeClr val="tx1"/>
                </a:solidFill>
              </a:rPr>
              <a:t>10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21" name="אליפסה 20"/>
          <p:cNvSpPr/>
          <p:nvPr/>
        </p:nvSpPr>
        <p:spPr>
          <a:xfrm>
            <a:off x="4189482" y="2025099"/>
            <a:ext cx="233024" cy="2608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 smtClean="0">
                <a:solidFill>
                  <a:schemeClr val="tx1"/>
                </a:solidFill>
              </a:rPr>
              <a:t>17</a:t>
            </a:r>
            <a:endParaRPr lang="he-IL" sz="1000" b="1" dirty="0">
              <a:solidFill>
                <a:schemeClr val="tx1"/>
              </a:solidFill>
            </a:endParaRPr>
          </a:p>
        </p:txBody>
      </p:sp>
      <p:sp>
        <p:nvSpPr>
          <p:cNvPr id="22" name="אליפסה 21"/>
          <p:cNvSpPr/>
          <p:nvPr/>
        </p:nvSpPr>
        <p:spPr>
          <a:xfrm>
            <a:off x="5009414" y="1972232"/>
            <a:ext cx="251572" cy="2762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 smtClean="0">
                <a:solidFill>
                  <a:schemeClr val="tx1"/>
                </a:solidFill>
              </a:rPr>
              <a:t>18</a:t>
            </a:r>
            <a:endParaRPr lang="he-IL" sz="400" b="1" dirty="0">
              <a:solidFill>
                <a:schemeClr val="tx1"/>
              </a:solidFill>
            </a:endParaRPr>
          </a:p>
        </p:txBody>
      </p:sp>
      <p:sp>
        <p:nvSpPr>
          <p:cNvPr id="23" name="אליפסה 22"/>
          <p:cNvSpPr/>
          <p:nvPr/>
        </p:nvSpPr>
        <p:spPr>
          <a:xfrm>
            <a:off x="4919198" y="2925474"/>
            <a:ext cx="258212" cy="22113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 smtClean="0">
                <a:solidFill>
                  <a:schemeClr val="tx1"/>
                </a:solidFill>
              </a:rPr>
              <a:t>7</a:t>
            </a:r>
            <a:endParaRPr lang="he-IL" sz="1000" b="1" dirty="0">
              <a:solidFill>
                <a:schemeClr val="tx1"/>
              </a:solidFill>
            </a:endParaRPr>
          </a:p>
        </p:txBody>
      </p:sp>
      <p:sp>
        <p:nvSpPr>
          <p:cNvPr id="24" name="אליפסה 23"/>
          <p:cNvSpPr/>
          <p:nvPr/>
        </p:nvSpPr>
        <p:spPr>
          <a:xfrm>
            <a:off x="4637660" y="3837981"/>
            <a:ext cx="273143" cy="22331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>
                <a:solidFill>
                  <a:schemeClr val="tx1"/>
                </a:solidFill>
              </a:rPr>
              <a:t>6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25" name="אליפסה 24"/>
          <p:cNvSpPr/>
          <p:nvPr/>
        </p:nvSpPr>
        <p:spPr>
          <a:xfrm>
            <a:off x="1500012" y="5199529"/>
            <a:ext cx="259978" cy="242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 smtClean="0">
                <a:solidFill>
                  <a:schemeClr val="tx1"/>
                </a:solidFill>
              </a:rPr>
              <a:t>22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26" name="אליפסה 25"/>
          <p:cNvSpPr/>
          <p:nvPr/>
        </p:nvSpPr>
        <p:spPr>
          <a:xfrm>
            <a:off x="4666146" y="3124195"/>
            <a:ext cx="217021" cy="1568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 smtClean="0">
                <a:solidFill>
                  <a:schemeClr val="tx1"/>
                </a:solidFill>
              </a:rPr>
              <a:t>8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27" name="אליפסה 26"/>
          <p:cNvSpPr/>
          <p:nvPr/>
        </p:nvSpPr>
        <p:spPr>
          <a:xfrm>
            <a:off x="5066234" y="5015693"/>
            <a:ext cx="254474" cy="2644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>
                <a:solidFill>
                  <a:schemeClr val="tx1"/>
                </a:solidFill>
              </a:rPr>
              <a:t>3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28" name="אליפסה 27"/>
          <p:cNvSpPr/>
          <p:nvPr/>
        </p:nvSpPr>
        <p:spPr>
          <a:xfrm>
            <a:off x="4305657" y="4527171"/>
            <a:ext cx="233698" cy="2296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 smtClean="0">
                <a:solidFill>
                  <a:schemeClr val="tx1"/>
                </a:solidFill>
              </a:rPr>
              <a:t>1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29" name="אליפסה 28"/>
          <p:cNvSpPr/>
          <p:nvPr/>
        </p:nvSpPr>
        <p:spPr>
          <a:xfrm>
            <a:off x="3830836" y="3936792"/>
            <a:ext cx="251012" cy="2490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>
                <a:solidFill>
                  <a:schemeClr val="tx1"/>
                </a:solidFill>
              </a:rPr>
              <a:t>5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30" name="אליפסה 29"/>
          <p:cNvSpPr/>
          <p:nvPr/>
        </p:nvSpPr>
        <p:spPr>
          <a:xfrm>
            <a:off x="4334452" y="3110114"/>
            <a:ext cx="170329" cy="15688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>
                <a:solidFill>
                  <a:schemeClr val="tx1"/>
                </a:solidFill>
              </a:rPr>
              <a:t>9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31" name="אליפסה 30"/>
          <p:cNvSpPr/>
          <p:nvPr/>
        </p:nvSpPr>
        <p:spPr>
          <a:xfrm>
            <a:off x="5208218" y="4214304"/>
            <a:ext cx="224980" cy="23447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 smtClean="0">
                <a:solidFill>
                  <a:schemeClr val="tx1"/>
                </a:solidFill>
              </a:rPr>
              <a:t>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32" name="מלבן 31"/>
          <p:cNvSpPr/>
          <p:nvPr/>
        </p:nvSpPr>
        <p:spPr>
          <a:xfrm>
            <a:off x="341521" y="3514160"/>
            <a:ext cx="930557" cy="18080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 smtClean="0">
                <a:solidFill>
                  <a:schemeClr val="tx1"/>
                </a:solidFill>
              </a:rPr>
              <a:t>שער אצטדיון</a:t>
            </a:r>
            <a:endParaRPr lang="he-IL" sz="1100" dirty="0">
              <a:solidFill>
                <a:schemeClr val="tx1"/>
              </a:solidFill>
            </a:endParaRPr>
          </a:p>
        </p:txBody>
      </p:sp>
      <p:sp>
        <p:nvSpPr>
          <p:cNvPr id="33" name="מלבן 32"/>
          <p:cNvSpPr/>
          <p:nvPr/>
        </p:nvSpPr>
        <p:spPr>
          <a:xfrm>
            <a:off x="4067551" y="5597718"/>
            <a:ext cx="595592" cy="16387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 smtClean="0">
                <a:solidFill>
                  <a:schemeClr val="tx1"/>
                </a:solidFill>
              </a:rPr>
              <a:t>שער ב'</a:t>
            </a:r>
            <a:endParaRPr lang="he-IL" sz="1100" dirty="0">
              <a:solidFill>
                <a:schemeClr val="tx1"/>
              </a:solidFill>
            </a:endParaRPr>
          </a:p>
        </p:txBody>
      </p:sp>
      <p:sp>
        <p:nvSpPr>
          <p:cNvPr id="34" name="מלבן 33"/>
          <p:cNvSpPr/>
          <p:nvPr/>
        </p:nvSpPr>
        <p:spPr>
          <a:xfrm>
            <a:off x="5978442" y="5433847"/>
            <a:ext cx="595592" cy="16387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 smtClean="0">
                <a:solidFill>
                  <a:schemeClr val="tx1"/>
                </a:solidFill>
              </a:rPr>
              <a:t>שער א'</a:t>
            </a:r>
            <a:endParaRPr lang="he-IL" sz="1100" dirty="0">
              <a:solidFill>
                <a:schemeClr val="tx1"/>
              </a:solidFill>
            </a:endParaRPr>
          </a:p>
        </p:txBody>
      </p:sp>
      <p:sp>
        <p:nvSpPr>
          <p:cNvPr id="35" name="מלבן 34"/>
          <p:cNvSpPr/>
          <p:nvPr/>
        </p:nvSpPr>
        <p:spPr>
          <a:xfrm>
            <a:off x="2672103" y="5235914"/>
            <a:ext cx="219517" cy="169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b="1" dirty="0" smtClean="0">
                <a:solidFill>
                  <a:srgbClr val="FF0000"/>
                </a:solidFill>
              </a:rPr>
              <a:t>A</a:t>
            </a:r>
            <a:endParaRPr lang="he-IL" sz="1100" b="1" dirty="0">
              <a:solidFill>
                <a:srgbClr val="FF0000"/>
              </a:solidFill>
            </a:endParaRPr>
          </a:p>
        </p:txBody>
      </p:sp>
      <p:sp>
        <p:nvSpPr>
          <p:cNvPr id="36" name="מלבן 35"/>
          <p:cNvSpPr/>
          <p:nvPr/>
        </p:nvSpPr>
        <p:spPr>
          <a:xfrm>
            <a:off x="5824717" y="5199529"/>
            <a:ext cx="219517" cy="169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b="1" dirty="0" smtClean="0">
                <a:solidFill>
                  <a:srgbClr val="FF0000"/>
                </a:solidFill>
              </a:rPr>
              <a:t>B</a:t>
            </a:r>
            <a:endParaRPr lang="he-IL" sz="1100" b="1" dirty="0">
              <a:solidFill>
                <a:srgbClr val="FF0000"/>
              </a:solidFill>
            </a:endParaRPr>
          </a:p>
        </p:txBody>
      </p:sp>
      <p:sp>
        <p:nvSpPr>
          <p:cNvPr id="37" name="מלבן 36"/>
          <p:cNvSpPr/>
          <p:nvPr/>
        </p:nvSpPr>
        <p:spPr>
          <a:xfrm>
            <a:off x="6618856" y="2554166"/>
            <a:ext cx="219517" cy="169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b="1" dirty="0" smtClean="0">
                <a:solidFill>
                  <a:srgbClr val="FF0000"/>
                </a:solidFill>
              </a:rPr>
              <a:t>C</a:t>
            </a:r>
            <a:endParaRPr lang="he-IL" sz="1100" b="1" dirty="0">
              <a:solidFill>
                <a:srgbClr val="FF0000"/>
              </a:solidFill>
            </a:endParaRPr>
          </a:p>
        </p:txBody>
      </p:sp>
      <p:graphicFrame>
        <p:nvGraphicFramePr>
          <p:cNvPr id="38" name="טבלה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151729"/>
              </p:ext>
            </p:extLst>
          </p:nvPr>
        </p:nvGraphicFramePr>
        <p:xfrm>
          <a:off x="4995505" y="5710828"/>
          <a:ext cx="1887157" cy="10515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368225">
                  <a:extLst>
                    <a:ext uri="{9D8B030D-6E8A-4147-A177-3AD203B41FA5}">
                      <a16:colId xmlns:a16="http://schemas.microsoft.com/office/drawing/2014/main" val="240162529"/>
                    </a:ext>
                  </a:extLst>
                </a:gridCol>
                <a:gridCol w="518932">
                  <a:extLst>
                    <a:ext uri="{9D8B030D-6E8A-4147-A177-3AD203B41FA5}">
                      <a16:colId xmlns:a16="http://schemas.microsoft.com/office/drawing/2014/main" val="2498551934"/>
                    </a:ext>
                  </a:extLst>
                </a:gridCol>
              </a:tblGrid>
              <a:tr h="175687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/>
                        <a:t>שם</a:t>
                      </a:r>
                      <a:r>
                        <a:rPr lang="he-IL" sz="900" baseline="0" dirty="0" smtClean="0"/>
                        <a:t> אורגני- מרכז השהיה</a:t>
                      </a:r>
                      <a:endParaRPr lang="he-IL" sz="900" dirty="0"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900" dirty="0" smtClean="0"/>
                        <a:t>שם שת"פ</a:t>
                      </a:r>
                      <a:endParaRPr lang="he-IL" sz="900" b="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388613"/>
                  </a:ext>
                </a:extLst>
              </a:tr>
              <a:tr h="188940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/>
                        <a:t>מרכז השהיה -</a:t>
                      </a:r>
                      <a:r>
                        <a:rPr lang="he-IL" sz="900" baseline="0" dirty="0" smtClean="0"/>
                        <a:t> מגרש</a:t>
                      </a:r>
                      <a:endParaRPr lang="he-IL" sz="900" dirty="0">
                        <a:solidFill>
                          <a:srgbClr val="FF0000"/>
                        </a:solidFill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900" b="1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he-IL" sz="900" b="1" dirty="0">
                        <a:solidFill>
                          <a:srgbClr val="FF0000"/>
                        </a:solidFill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396136"/>
                  </a:ext>
                </a:extLst>
              </a:tr>
              <a:tr h="188940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/>
                        <a:t>מרכז השהיה – חניון אבחון</a:t>
                      </a:r>
                      <a:endParaRPr lang="he-IL" sz="900" dirty="0">
                        <a:solidFill>
                          <a:srgbClr val="FF0000"/>
                        </a:solidFill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900" b="1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he-IL" sz="900" b="1" dirty="0">
                        <a:solidFill>
                          <a:srgbClr val="FF0000"/>
                        </a:solidFill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635730"/>
                  </a:ext>
                </a:extLst>
              </a:tr>
              <a:tr h="195487">
                <a:tc>
                  <a:txBody>
                    <a:bodyPr/>
                    <a:lstStyle/>
                    <a:p>
                      <a:pPr rtl="1"/>
                      <a:r>
                        <a:rPr lang="he-IL" sz="900" dirty="0" smtClean="0"/>
                        <a:t>מרכז</a:t>
                      </a:r>
                      <a:r>
                        <a:rPr lang="he-IL" sz="900" baseline="0" dirty="0" smtClean="0"/>
                        <a:t> השהיה- חניון 20</a:t>
                      </a:r>
                      <a:endParaRPr lang="he-IL" sz="900" dirty="0">
                        <a:solidFill>
                          <a:srgbClr val="FF0000"/>
                        </a:solidFill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9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he-IL" sz="900" b="1" dirty="0">
                        <a:solidFill>
                          <a:srgbClr val="FF0000"/>
                        </a:solidFill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498475"/>
                  </a:ext>
                </a:extLst>
              </a:tr>
            </a:tbl>
          </a:graphicData>
        </a:graphic>
      </p:graphicFrame>
      <p:sp>
        <p:nvSpPr>
          <p:cNvPr id="39" name="מלבן 38"/>
          <p:cNvSpPr/>
          <p:nvPr/>
        </p:nvSpPr>
        <p:spPr>
          <a:xfrm>
            <a:off x="6154164" y="1208397"/>
            <a:ext cx="595592" cy="16387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 smtClean="0">
                <a:solidFill>
                  <a:schemeClr val="tx1"/>
                </a:solidFill>
              </a:rPr>
              <a:t>שער ד'</a:t>
            </a:r>
            <a:endParaRPr lang="he-IL" sz="1100" dirty="0">
              <a:solidFill>
                <a:schemeClr val="tx1"/>
              </a:solidFill>
            </a:endParaRPr>
          </a:p>
        </p:txBody>
      </p:sp>
      <p:sp>
        <p:nvSpPr>
          <p:cNvPr id="40" name="מלבן 39"/>
          <p:cNvSpPr/>
          <p:nvPr/>
        </p:nvSpPr>
        <p:spPr>
          <a:xfrm>
            <a:off x="3449486" y="1239100"/>
            <a:ext cx="595592" cy="16387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 smtClean="0">
                <a:solidFill>
                  <a:schemeClr val="tx1"/>
                </a:solidFill>
              </a:rPr>
              <a:t>שער ג'</a:t>
            </a:r>
            <a:endParaRPr lang="he-IL" sz="1100" dirty="0">
              <a:solidFill>
                <a:schemeClr val="tx1"/>
              </a:solidFill>
            </a:endParaRPr>
          </a:p>
        </p:txBody>
      </p:sp>
      <p:sp>
        <p:nvSpPr>
          <p:cNvPr id="2" name="מלבן 1"/>
          <p:cNvSpPr/>
          <p:nvPr/>
        </p:nvSpPr>
        <p:spPr>
          <a:xfrm>
            <a:off x="726093" y="3255460"/>
            <a:ext cx="304370" cy="17089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600" dirty="0">
              <a:solidFill>
                <a:schemeClr val="bg1"/>
              </a:solidFill>
            </a:endParaRPr>
          </a:p>
        </p:txBody>
      </p:sp>
      <p:sp>
        <p:nvSpPr>
          <p:cNvPr id="41" name="מלבן 40"/>
          <p:cNvSpPr/>
          <p:nvPr/>
        </p:nvSpPr>
        <p:spPr>
          <a:xfrm rot="5400000">
            <a:off x="522515" y="2319280"/>
            <a:ext cx="235609" cy="1690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600" dirty="0">
              <a:solidFill>
                <a:schemeClr val="bg1"/>
              </a:solidFill>
            </a:endParaRPr>
          </a:p>
        </p:txBody>
      </p:sp>
      <p:sp>
        <p:nvSpPr>
          <p:cNvPr id="49" name="מלבן 48"/>
          <p:cNvSpPr/>
          <p:nvPr/>
        </p:nvSpPr>
        <p:spPr>
          <a:xfrm rot="5400000">
            <a:off x="1663444" y="3365424"/>
            <a:ext cx="235609" cy="1690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600" dirty="0">
              <a:solidFill>
                <a:schemeClr val="bg1"/>
              </a:solidFill>
            </a:endParaRPr>
          </a:p>
        </p:txBody>
      </p:sp>
      <p:sp>
        <p:nvSpPr>
          <p:cNvPr id="50" name="מלבן 49"/>
          <p:cNvSpPr/>
          <p:nvPr/>
        </p:nvSpPr>
        <p:spPr>
          <a:xfrm>
            <a:off x="5962950" y="4846739"/>
            <a:ext cx="283439" cy="1641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600" dirty="0">
              <a:solidFill>
                <a:schemeClr val="bg1"/>
              </a:solidFill>
            </a:endParaRPr>
          </a:p>
        </p:txBody>
      </p:sp>
      <p:sp>
        <p:nvSpPr>
          <p:cNvPr id="51" name="מלבן 50"/>
          <p:cNvSpPr/>
          <p:nvPr/>
        </p:nvSpPr>
        <p:spPr>
          <a:xfrm>
            <a:off x="1781248" y="3738699"/>
            <a:ext cx="304370" cy="17089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600" dirty="0">
              <a:solidFill>
                <a:schemeClr val="bg1"/>
              </a:solidFill>
            </a:endParaRPr>
          </a:p>
        </p:txBody>
      </p:sp>
      <p:sp>
        <p:nvSpPr>
          <p:cNvPr id="52" name="מלבן 51"/>
          <p:cNvSpPr/>
          <p:nvPr/>
        </p:nvSpPr>
        <p:spPr>
          <a:xfrm rot="5400000">
            <a:off x="2807679" y="1518201"/>
            <a:ext cx="235609" cy="1690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600" dirty="0">
              <a:solidFill>
                <a:schemeClr val="bg1"/>
              </a:solidFill>
            </a:endParaRPr>
          </a:p>
        </p:txBody>
      </p:sp>
      <p:sp>
        <p:nvSpPr>
          <p:cNvPr id="53" name="מלבן 52"/>
          <p:cNvSpPr/>
          <p:nvPr/>
        </p:nvSpPr>
        <p:spPr>
          <a:xfrm>
            <a:off x="2450270" y="3321715"/>
            <a:ext cx="304370" cy="17089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600" dirty="0">
              <a:solidFill>
                <a:schemeClr val="bg1"/>
              </a:solidFill>
            </a:endParaRPr>
          </a:p>
        </p:txBody>
      </p:sp>
      <p:sp>
        <p:nvSpPr>
          <p:cNvPr id="54" name="מלבן 53"/>
          <p:cNvSpPr/>
          <p:nvPr/>
        </p:nvSpPr>
        <p:spPr>
          <a:xfrm rot="5400000">
            <a:off x="3409442" y="3849806"/>
            <a:ext cx="235609" cy="1690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600" dirty="0">
              <a:solidFill>
                <a:schemeClr val="bg1"/>
              </a:solidFill>
            </a:endParaRPr>
          </a:p>
        </p:txBody>
      </p:sp>
      <p:sp>
        <p:nvSpPr>
          <p:cNvPr id="55" name="מלבן 54"/>
          <p:cNvSpPr/>
          <p:nvPr/>
        </p:nvSpPr>
        <p:spPr>
          <a:xfrm rot="5400000">
            <a:off x="4055797" y="5172042"/>
            <a:ext cx="235609" cy="1690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600" dirty="0">
              <a:solidFill>
                <a:schemeClr val="bg1"/>
              </a:solidFill>
            </a:endParaRPr>
          </a:p>
        </p:txBody>
      </p:sp>
      <p:sp>
        <p:nvSpPr>
          <p:cNvPr id="56" name="משולש שווה-שוקיים 55"/>
          <p:cNvSpPr/>
          <p:nvPr/>
        </p:nvSpPr>
        <p:spPr>
          <a:xfrm>
            <a:off x="2559080" y="2641255"/>
            <a:ext cx="164939" cy="164375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7" name="משולש שווה-שוקיים 56"/>
          <p:cNvSpPr/>
          <p:nvPr/>
        </p:nvSpPr>
        <p:spPr>
          <a:xfrm>
            <a:off x="4254677" y="2614411"/>
            <a:ext cx="164939" cy="164375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8" name="משולש שווה-שוקיים 57"/>
          <p:cNvSpPr/>
          <p:nvPr/>
        </p:nvSpPr>
        <p:spPr>
          <a:xfrm>
            <a:off x="4745864" y="3268989"/>
            <a:ext cx="164939" cy="164375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9" name="משולש שווה-שוקיים 58"/>
          <p:cNvSpPr/>
          <p:nvPr/>
        </p:nvSpPr>
        <p:spPr>
          <a:xfrm>
            <a:off x="2233330" y="4776954"/>
            <a:ext cx="164939" cy="164375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1" name="מלבן 60"/>
          <p:cNvSpPr/>
          <p:nvPr/>
        </p:nvSpPr>
        <p:spPr>
          <a:xfrm>
            <a:off x="2669138" y="6569533"/>
            <a:ext cx="304370" cy="9819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600" dirty="0">
              <a:solidFill>
                <a:schemeClr val="bg1"/>
              </a:solidFill>
            </a:endParaRPr>
          </a:p>
        </p:txBody>
      </p:sp>
      <p:sp>
        <p:nvSpPr>
          <p:cNvPr id="62" name="משולש שווה-שוקיים 61"/>
          <p:cNvSpPr/>
          <p:nvPr/>
        </p:nvSpPr>
        <p:spPr>
          <a:xfrm>
            <a:off x="1500012" y="6522050"/>
            <a:ext cx="164939" cy="164375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2" name="TextBox 41"/>
          <p:cNvSpPr txBox="1"/>
          <p:nvPr/>
        </p:nvSpPr>
        <p:spPr>
          <a:xfrm>
            <a:off x="62935" y="3791672"/>
            <a:ext cx="492860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rtlCol="1">
            <a:spAutoFit/>
          </a:bodyPr>
          <a:lstStyle/>
          <a:p>
            <a:pPr algn="ctr" rtl="1"/>
            <a:r>
              <a:rPr lang="he-IL" sz="800" dirty="0" smtClean="0">
                <a:solidFill>
                  <a:srgbClr val="FF0000"/>
                </a:solidFill>
              </a:rPr>
              <a:t>אתר ריכוז כלי רכב בחירום</a:t>
            </a:r>
            <a:endParaRPr lang="he-IL" sz="800" dirty="0">
              <a:solidFill>
                <a:srgbClr val="FF0000"/>
              </a:solidFill>
            </a:endParaRPr>
          </a:p>
        </p:txBody>
      </p:sp>
      <p:sp>
        <p:nvSpPr>
          <p:cNvPr id="63" name="אליפסה 62"/>
          <p:cNvSpPr/>
          <p:nvPr/>
        </p:nvSpPr>
        <p:spPr>
          <a:xfrm>
            <a:off x="3711427" y="2923728"/>
            <a:ext cx="392831" cy="2797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he-IL" sz="1000" b="1" dirty="0" smtClean="0">
                <a:solidFill>
                  <a:schemeClr val="tx1"/>
                </a:solidFill>
              </a:rPr>
              <a:t>10 א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64" name="מלבן 63"/>
          <p:cNvSpPr/>
          <p:nvPr/>
        </p:nvSpPr>
        <p:spPr>
          <a:xfrm>
            <a:off x="6432314" y="4776954"/>
            <a:ext cx="406059" cy="24183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600" dirty="0">
              <a:solidFill>
                <a:schemeClr val="bg1"/>
              </a:solidFill>
            </a:endParaRPr>
          </a:p>
        </p:txBody>
      </p:sp>
      <p:sp>
        <p:nvSpPr>
          <p:cNvPr id="65" name="מלבן 64"/>
          <p:cNvSpPr/>
          <p:nvPr/>
        </p:nvSpPr>
        <p:spPr>
          <a:xfrm>
            <a:off x="3223657" y="3683465"/>
            <a:ext cx="162167" cy="1330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600" dirty="0">
              <a:solidFill>
                <a:schemeClr val="bg1"/>
              </a:solidFill>
            </a:endParaRP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26" y="207299"/>
            <a:ext cx="1465103" cy="66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023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494</TotalTime>
  <Words>203</Words>
  <Application>Microsoft Office PowerPoint</Application>
  <PresentationFormat>‫הצגה על המסך (4:3)</PresentationFormat>
  <Paragraphs>114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David</vt:lpstr>
      <vt:lpstr>Times New Roman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סטטוס מוכנות  המרכז לבריאות הנפש בבאר שבע להתמודדות עם החרפת מצבי חירום</dc:title>
  <dc:creator>ציון דדון</dc:creator>
  <cp:lastModifiedBy>ציון דדון</cp:lastModifiedBy>
  <cp:revision>57</cp:revision>
  <cp:lastPrinted>2025-11-11T10:00:56Z</cp:lastPrinted>
  <dcterms:created xsi:type="dcterms:W3CDTF">2025-11-11T08:29:59Z</dcterms:created>
  <dcterms:modified xsi:type="dcterms:W3CDTF">2026-01-18T04:36:35Z</dcterms:modified>
</cp:coreProperties>
</file>